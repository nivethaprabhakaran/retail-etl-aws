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63"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128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09128" y="2178151"/>
            <a:ext cx="4940359" cy="1642970"/>
          </a:xfrm>
        </p:spPr>
        <p:txBody>
          <a:bodyPr anchor="b">
            <a:normAutofit/>
          </a:bodyPr>
          <a:lstStyle/>
          <a:p>
            <a:pPr>
              <a:lnSpc>
                <a:spcPct val="90000"/>
              </a:lnSpc>
            </a:pPr>
            <a:r>
              <a:rPr lang="en-US" sz="3500" b="1" dirty="0"/>
              <a:t>AWS Retail </a:t>
            </a:r>
            <a:r>
              <a:rPr lang="en-US" sz="3500" b="1"/>
              <a:t>ETL Pipeline</a:t>
            </a:r>
            <a:endParaRPr lang="en-US" sz="3500" b="1" dirty="0"/>
          </a:p>
        </p:txBody>
      </p:sp>
      <p:sp>
        <p:nvSpPr>
          <p:cNvPr id="3" name="Content Placeholder 2"/>
          <p:cNvSpPr>
            <a:spLocks noGrp="1"/>
          </p:cNvSpPr>
          <p:nvPr>
            <p:ph idx="1"/>
          </p:nvPr>
        </p:nvSpPr>
        <p:spPr>
          <a:xfrm>
            <a:off x="3475596" y="4986206"/>
            <a:ext cx="3986392" cy="1642971"/>
          </a:xfrm>
        </p:spPr>
        <p:txBody>
          <a:bodyPr anchor="t">
            <a:normAutofit/>
          </a:bodyPr>
          <a:lstStyle/>
          <a:p>
            <a:pPr marL="0" indent="0">
              <a:buNone/>
              <a:defRPr sz="2200"/>
            </a:pPr>
            <a:br>
              <a:rPr lang="en-US" sz="1700" dirty="0"/>
            </a:br>
            <a:r>
              <a:rPr lang="en-US" sz="1700" b="1" dirty="0"/>
              <a:t>Presented By</a:t>
            </a:r>
            <a:r>
              <a:rPr lang="en-US" sz="1700" dirty="0"/>
              <a:t>:</a:t>
            </a:r>
          </a:p>
          <a:p>
            <a:pPr marL="0" indent="0">
              <a:buNone/>
              <a:defRPr sz="2200"/>
            </a:pPr>
            <a:r>
              <a:rPr lang="en-US" sz="1700" dirty="0"/>
              <a:t>             Gokul G</a:t>
            </a:r>
          </a:p>
          <a:p>
            <a:pPr marL="0" indent="0">
              <a:buNone/>
              <a:defRPr sz="2200"/>
            </a:pPr>
            <a:r>
              <a:rPr lang="en-US" sz="1700" dirty="0"/>
              <a:t>            Nivetha M P</a:t>
            </a:r>
          </a:p>
        </p:txBody>
      </p:sp>
      <p:sp>
        <p:nvSpPr>
          <p:cNvPr id="26" name="Rectangle 25">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Database">
            <a:extLst>
              <a:ext uri="{FF2B5EF4-FFF2-40B4-BE49-F238E27FC236}">
                <a16:creationId xmlns:a16="http://schemas.microsoft.com/office/drawing/2014/main" id="{80F76435-3F0E-75A7-DD37-9FD8EC3EFA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06975" y="1880998"/>
            <a:ext cx="3127897" cy="31278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dirty="0">
                <a:solidFill>
                  <a:srgbClr val="FFFFFF"/>
                </a:solidFill>
              </a:rPr>
              <a:t>Project Overview</a:t>
            </a:r>
          </a:p>
        </p:txBody>
      </p:sp>
      <p:sp>
        <p:nvSpPr>
          <p:cNvPr id="3" name="Content Placeholder 2"/>
          <p:cNvSpPr>
            <a:spLocks noGrp="1"/>
          </p:cNvSpPr>
          <p:nvPr>
            <p:ph idx="1"/>
          </p:nvPr>
        </p:nvSpPr>
        <p:spPr>
          <a:xfrm>
            <a:off x="344513" y="2318197"/>
            <a:ext cx="8320516" cy="3683358"/>
          </a:xfrm>
        </p:spPr>
        <p:txBody>
          <a:bodyPr anchor="ctr">
            <a:normAutofit/>
          </a:bodyPr>
          <a:lstStyle/>
          <a:p>
            <a:pPr marL="0" indent="0" algn="just">
              <a:buNone/>
              <a:defRPr sz="2200"/>
            </a:pPr>
            <a:r>
              <a:rPr lang="en-IN" sz="2000" dirty="0"/>
              <a:t>This project implements an automated AWS Retail ETL pipeline that processes retail sales data from Amazon S3 to Amazon Redshift. When a CSV file is uploaded, AWS Lambda validates the file and triggers AWS Glue jobs to clean and transform the data into a star schema dataset. The transformed data is then loaded into an Amazon Redshift data warehouse using SQL scripts. Finally, the processed data is archived, temporary files are cleaned up, and execution logs are maintained. The solution leverages AWS managed services to build a scalable, reliable, and automated data pipeline that ensures data quality and supports efficient analytics.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a:solidFill>
                  <a:srgbClr val="FFFFFF"/>
                </a:solidFill>
              </a:rPr>
              <a:t>Architecture Diagram</a:t>
            </a:r>
          </a:p>
        </p:txBody>
      </p:sp>
      <p:pic>
        <p:nvPicPr>
          <p:cNvPr id="7" name="Content Placeholder 6">
            <a:extLst>
              <a:ext uri="{FF2B5EF4-FFF2-40B4-BE49-F238E27FC236}">
                <a16:creationId xmlns:a16="http://schemas.microsoft.com/office/drawing/2014/main" id="{ADEF8430-D0F3-A218-7AB9-34A75F87DED6}"/>
              </a:ext>
            </a:extLst>
          </p:cNvPr>
          <p:cNvPicPr>
            <a:picLocks noGrp="1" noChangeAspect="1"/>
          </p:cNvPicPr>
          <p:nvPr>
            <p:ph idx="1"/>
          </p:nvPr>
        </p:nvPicPr>
        <p:blipFill rotWithShape="1">
          <a:blip r:embed="rId2"/>
          <a:srcRect b="3809"/>
          <a:stretch>
            <a:fillRect/>
          </a:stretch>
        </p:blipFill>
        <p:spPr bwMode="auto">
          <a:xfrm>
            <a:off x="344512" y="1634922"/>
            <a:ext cx="8743301" cy="53543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defTabSz="914400">
              <a:lnSpc>
                <a:spcPct val="90000"/>
              </a:lnSpc>
            </a:pPr>
            <a:r>
              <a:rPr lang="en-US" sz="3500" kern="1200" dirty="0">
                <a:solidFill>
                  <a:srgbClr val="FFFFFF"/>
                </a:solidFill>
                <a:latin typeface="+mj-lt"/>
                <a:ea typeface="+mj-ea"/>
                <a:cs typeface="+mj-cs"/>
              </a:rPr>
              <a:t>                            Use Cases</a:t>
            </a:r>
          </a:p>
        </p:txBody>
      </p:sp>
      <p:pic>
        <p:nvPicPr>
          <p:cNvPr id="5" name="Content Placeholder 4">
            <a:extLst>
              <a:ext uri="{FF2B5EF4-FFF2-40B4-BE49-F238E27FC236}">
                <a16:creationId xmlns:a16="http://schemas.microsoft.com/office/drawing/2014/main" id="{A19BBB54-C72C-B8C4-B60A-F051AA957B02}"/>
              </a:ext>
            </a:extLst>
          </p:cNvPr>
          <p:cNvPicPr>
            <a:picLocks noGrp="1" noChangeAspect="1"/>
          </p:cNvPicPr>
          <p:nvPr>
            <p:ph idx="1"/>
          </p:nvPr>
        </p:nvPicPr>
        <p:blipFill>
          <a:blip r:embed="rId2"/>
          <a:stretch>
            <a:fillRect/>
          </a:stretch>
        </p:blipFill>
        <p:spPr>
          <a:xfrm>
            <a:off x="324167" y="2091214"/>
            <a:ext cx="8495662" cy="1575957"/>
          </a:xfrm>
          <a:prstGeom prst="rect">
            <a:avLst/>
          </a:prstGeom>
        </p:spPr>
      </p:pic>
      <p:pic>
        <p:nvPicPr>
          <p:cNvPr id="11" name="Picture 10">
            <a:extLst>
              <a:ext uri="{FF2B5EF4-FFF2-40B4-BE49-F238E27FC236}">
                <a16:creationId xmlns:a16="http://schemas.microsoft.com/office/drawing/2014/main" id="{15EA86BE-C41C-34E6-9CDA-34ECD7410252}"/>
              </a:ext>
            </a:extLst>
          </p:cNvPr>
          <p:cNvPicPr>
            <a:picLocks noChangeAspect="1"/>
          </p:cNvPicPr>
          <p:nvPr/>
        </p:nvPicPr>
        <p:blipFill>
          <a:blip r:embed="rId3"/>
          <a:stretch>
            <a:fillRect/>
          </a:stretch>
        </p:blipFill>
        <p:spPr>
          <a:xfrm>
            <a:off x="1" y="4363430"/>
            <a:ext cx="9143999" cy="16632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Use Cases</a:t>
            </a:r>
            <a:endParaRPr lang="en-US" sz="3500" dirty="0">
              <a:solidFill>
                <a:srgbClr val="FFFFFF"/>
              </a:solidFill>
            </a:endParaRPr>
          </a:p>
        </p:txBody>
      </p:sp>
      <p:pic>
        <p:nvPicPr>
          <p:cNvPr id="5" name="Content Placeholder 4">
            <a:extLst>
              <a:ext uri="{FF2B5EF4-FFF2-40B4-BE49-F238E27FC236}">
                <a16:creationId xmlns:a16="http://schemas.microsoft.com/office/drawing/2014/main" id="{CB1C58A9-563F-6818-6678-495DA1640523}"/>
              </a:ext>
            </a:extLst>
          </p:cNvPr>
          <p:cNvPicPr>
            <a:picLocks noGrp="1" noChangeAspect="1"/>
          </p:cNvPicPr>
          <p:nvPr>
            <p:ph idx="1"/>
          </p:nvPr>
        </p:nvPicPr>
        <p:blipFill>
          <a:blip r:embed="rId2"/>
          <a:stretch>
            <a:fillRect/>
          </a:stretch>
        </p:blipFill>
        <p:spPr>
          <a:xfrm>
            <a:off x="2097813" y="1980293"/>
            <a:ext cx="5154748" cy="3684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dirty="0">
                <a:solidFill>
                  <a:srgbClr val="FFFFFF"/>
                </a:solidFill>
              </a:rPr>
              <a:t>Use Cases</a:t>
            </a:r>
          </a:p>
        </p:txBody>
      </p:sp>
      <p:pic>
        <p:nvPicPr>
          <p:cNvPr id="5" name="Content Placeholder 4">
            <a:extLst>
              <a:ext uri="{FF2B5EF4-FFF2-40B4-BE49-F238E27FC236}">
                <a16:creationId xmlns:a16="http://schemas.microsoft.com/office/drawing/2014/main" id="{F5CBEB35-A332-6C82-F2A6-98F97DDDA6BC}"/>
              </a:ext>
            </a:extLst>
          </p:cNvPr>
          <p:cNvPicPr>
            <a:picLocks noGrp="1" noChangeAspect="1"/>
          </p:cNvPicPr>
          <p:nvPr>
            <p:ph idx="1"/>
          </p:nvPr>
        </p:nvPicPr>
        <p:blipFill>
          <a:blip r:embed="rId2"/>
          <a:stretch>
            <a:fillRect/>
          </a:stretch>
        </p:blipFill>
        <p:spPr>
          <a:xfrm>
            <a:off x="805307" y="1622745"/>
            <a:ext cx="6958508" cy="3031593"/>
          </a:xfrm>
          <a:prstGeom prst="rect">
            <a:avLst/>
          </a:prstGeom>
        </p:spPr>
      </p:pic>
      <p:pic>
        <p:nvPicPr>
          <p:cNvPr id="7" name="Picture 6">
            <a:extLst>
              <a:ext uri="{FF2B5EF4-FFF2-40B4-BE49-F238E27FC236}">
                <a16:creationId xmlns:a16="http://schemas.microsoft.com/office/drawing/2014/main" id="{9F289906-ECCA-6DD3-4FFA-3F4B0A3C1175}"/>
              </a:ext>
            </a:extLst>
          </p:cNvPr>
          <p:cNvPicPr>
            <a:picLocks noChangeAspect="1"/>
          </p:cNvPicPr>
          <p:nvPr/>
        </p:nvPicPr>
        <p:blipFill>
          <a:blip r:embed="rId3"/>
          <a:stretch>
            <a:fillRect/>
          </a:stretch>
        </p:blipFill>
        <p:spPr>
          <a:xfrm>
            <a:off x="805306" y="4682362"/>
            <a:ext cx="7181900" cy="21476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1158</TotalTime>
  <Words>138</Words>
  <Application>Microsoft Office PowerPoint</Application>
  <PresentationFormat>On-screen Show (4:3)</PresentationFormat>
  <Paragraphs>10</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AWS Retail ETL Pipeline</vt:lpstr>
      <vt:lpstr>Project Overview</vt:lpstr>
      <vt:lpstr>Architecture Diagram</vt:lpstr>
      <vt:lpstr>                            Use Cases</vt:lpstr>
      <vt:lpstr>Use Cases</vt:lpstr>
      <vt:lpstr>Use Cases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Nivetha Maheshwari Prabhakaran(UST,IN)</cp:lastModifiedBy>
  <cp:revision>4</cp:revision>
  <dcterms:created xsi:type="dcterms:W3CDTF">2013-01-27T09:14:16Z</dcterms:created>
  <dcterms:modified xsi:type="dcterms:W3CDTF">2026-07-14T08:37:54Z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2026-07-13T13:20:12Z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462ff3be-dc4c-44db-b586-abcc227f8ad4</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